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58585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58585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485775"/>
          </a:xfrm>
          <a:custGeom>
            <a:avLst/>
            <a:gdLst/>
            <a:ahLst/>
            <a:cxnLst/>
            <a:rect l="l" t="t" r="r" b="b"/>
            <a:pathLst>
              <a:path w="9144000" h="485775">
                <a:moveTo>
                  <a:pt x="9144000" y="0"/>
                </a:moveTo>
                <a:lnTo>
                  <a:pt x="0" y="0"/>
                </a:lnTo>
                <a:lnTo>
                  <a:pt x="0" y="485775"/>
                </a:lnTo>
                <a:lnTo>
                  <a:pt x="9144000" y="485775"/>
                </a:lnTo>
                <a:lnTo>
                  <a:pt x="9144000" y="0"/>
                </a:lnTo>
                <a:close/>
              </a:path>
            </a:pathLst>
          </a:custGeom>
          <a:solidFill>
            <a:srgbClr val="E9EC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200150" y="1190625"/>
            <a:ext cx="371475" cy="47625"/>
          </a:xfrm>
          <a:custGeom>
            <a:avLst/>
            <a:gdLst/>
            <a:ahLst/>
            <a:cxnLst/>
            <a:rect l="l" t="t" r="r" b="b"/>
            <a:pathLst>
              <a:path w="371475" h="47625">
                <a:moveTo>
                  <a:pt x="371475" y="0"/>
                </a:moveTo>
                <a:lnTo>
                  <a:pt x="0" y="0"/>
                </a:lnTo>
                <a:lnTo>
                  <a:pt x="0" y="47625"/>
                </a:lnTo>
                <a:lnTo>
                  <a:pt x="371475" y="47625"/>
                </a:lnTo>
                <a:lnTo>
                  <a:pt x="371475" y="0"/>
                </a:lnTo>
                <a:close/>
              </a:path>
            </a:pathLst>
          </a:custGeom>
          <a:solidFill>
            <a:srgbClr val="EB55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28675" y="1190625"/>
            <a:ext cx="381000" cy="47625"/>
          </a:xfrm>
          <a:custGeom>
            <a:avLst/>
            <a:gdLst/>
            <a:ahLst/>
            <a:cxnLst/>
            <a:rect l="l" t="t" r="r" b="b"/>
            <a:pathLst>
              <a:path w="381000" h="47625">
                <a:moveTo>
                  <a:pt x="381000" y="0"/>
                </a:moveTo>
                <a:lnTo>
                  <a:pt x="0" y="0"/>
                </a:lnTo>
                <a:lnTo>
                  <a:pt x="0" y="47625"/>
                </a:lnTo>
                <a:lnTo>
                  <a:pt x="381000" y="47625"/>
                </a:lnTo>
                <a:lnTo>
                  <a:pt x="381000" y="0"/>
                </a:lnTo>
                <a:close/>
              </a:path>
            </a:pathLst>
          </a:custGeom>
          <a:solidFill>
            <a:srgbClr val="1A99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3275" y="1380743"/>
            <a:ext cx="6581140" cy="430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8990" y="2417254"/>
            <a:ext cx="7505700" cy="2115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58585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it-support@mastercard-secure.com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485775"/>
              <a:ext cx="9144000" cy="4657725"/>
            </a:xfrm>
            <a:custGeom>
              <a:avLst/>
              <a:gdLst/>
              <a:ahLst/>
              <a:cxnLst/>
              <a:rect l="l" t="t" r="r" b="b"/>
              <a:pathLst>
                <a:path w="9144000" h="4657725">
                  <a:moveTo>
                    <a:pt x="0" y="4657724"/>
                  </a:moveTo>
                  <a:lnTo>
                    <a:pt x="9144000" y="465772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657724"/>
                  </a:lnTo>
                  <a:close/>
                </a:path>
              </a:pathLst>
            </a:custGeom>
            <a:solidFill>
              <a:srgbClr val="E9EC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9144000" cy="485775"/>
            </a:xfrm>
            <a:custGeom>
              <a:avLst/>
              <a:gdLst/>
              <a:ahLst/>
              <a:cxnLst/>
              <a:rect l="l" t="t" r="r" b="b"/>
              <a:pathLst>
                <a:path w="9144000" h="485775">
                  <a:moveTo>
                    <a:pt x="9144000" y="0"/>
                  </a:moveTo>
                  <a:lnTo>
                    <a:pt x="0" y="0"/>
                  </a:lnTo>
                  <a:lnTo>
                    <a:pt x="0" y="485775"/>
                  </a:lnTo>
                  <a:lnTo>
                    <a:pt x="9144000" y="4857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00150" y="1190625"/>
              <a:ext cx="371475" cy="47625"/>
            </a:xfrm>
            <a:custGeom>
              <a:avLst/>
              <a:gdLst/>
              <a:ahLst/>
              <a:cxnLst/>
              <a:rect l="l" t="t" r="r" b="b"/>
              <a:pathLst>
                <a:path w="371475" h="47625">
                  <a:moveTo>
                    <a:pt x="371475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371475" y="47625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EB5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28675" y="1190625"/>
              <a:ext cx="381000" cy="47625"/>
            </a:xfrm>
            <a:custGeom>
              <a:avLst/>
              <a:gdLst/>
              <a:ahLst/>
              <a:cxnLst/>
              <a:rect l="l" t="t" r="r" b="b"/>
              <a:pathLst>
                <a:path w="381000" h="47625">
                  <a:moveTo>
                    <a:pt x="381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381000" y="47625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1A99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0"/>
              <a:t>Familiarize</a:t>
            </a:r>
            <a:r>
              <a:rPr dirty="0" sz="2600" spc="-75"/>
              <a:t> </a:t>
            </a:r>
            <a:r>
              <a:rPr dirty="0" sz="2600"/>
              <a:t>yourself</a:t>
            </a:r>
            <a:r>
              <a:rPr dirty="0" sz="2600" spc="-80"/>
              <a:t> </a:t>
            </a:r>
            <a:r>
              <a:rPr dirty="0" sz="2600"/>
              <a:t>with </a:t>
            </a:r>
            <a:r>
              <a:rPr dirty="0" sz="2600" spc="60"/>
              <a:t>phishing</a:t>
            </a:r>
            <a:r>
              <a:rPr dirty="0" sz="2600" spc="-95"/>
              <a:t> </a:t>
            </a:r>
            <a:r>
              <a:rPr dirty="0" sz="2600" spc="50"/>
              <a:t>attacks</a:t>
            </a:r>
            <a:endParaRPr sz="2600"/>
          </a:p>
        </p:txBody>
      </p:sp>
      <p:sp>
        <p:nvSpPr>
          <p:cNvPr id="8" name="object 8" descr=""/>
          <p:cNvSpPr txBox="1"/>
          <p:nvPr/>
        </p:nvSpPr>
        <p:spPr>
          <a:xfrm>
            <a:off x="815174" y="2166366"/>
            <a:ext cx="4292600" cy="3429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2670"/>
              </a:lnSpc>
            </a:pPr>
            <a:r>
              <a:rPr dirty="0" sz="2300" spc="50" b="1">
                <a:solidFill>
                  <a:srgbClr val="1A1A1A"/>
                </a:solidFill>
                <a:latin typeface="Trebuchet MS"/>
                <a:cs typeface="Trebuchet MS"/>
              </a:rPr>
              <a:t>Phishing</a:t>
            </a:r>
            <a:r>
              <a:rPr dirty="0" sz="2300" spc="-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1A1A1A"/>
                </a:solidFill>
                <a:latin typeface="Trebuchet MS"/>
                <a:cs typeface="Trebuchet MS"/>
              </a:rPr>
              <a:t>Presentation</a:t>
            </a:r>
            <a:r>
              <a:rPr dirty="0" sz="2300" spc="-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-10" b="1">
                <a:solidFill>
                  <a:srgbClr val="1A1A1A"/>
                </a:solidFill>
                <a:latin typeface="Trebuchet MS"/>
                <a:cs typeface="Trebuchet MS"/>
              </a:rPr>
              <a:t>Training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15174" y="2861691"/>
            <a:ext cx="3923029" cy="3429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2680"/>
              </a:lnSpc>
            </a:pPr>
            <a:r>
              <a:rPr dirty="0" sz="2300" spc="145" b="1">
                <a:solidFill>
                  <a:srgbClr val="1A1A1A"/>
                </a:solidFill>
                <a:latin typeface="Trebuchet MS"/>
                <a:cs typeface="Trebuchet MS"/>
              </a:rPr>
              <a:t>HR</a:t>
            </a:r>
            <a:r>
              <a:rPr dirty="0" sz="2300" spc="-13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75" b="1">
                <a:solidFill>
                  <a:srgbClr val="1A1A1A"/>
                </a:solidFill>
                <a:latin typeface="Trebuchet MS"/>
                <a:cs typeface="Trebuchet MS"/>
              </a:rPr>
              <a:t>Team</a:t>
            </a:r>
            <a:r>
              <a:rPr dirty="0" sz="2300" spc="-22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b="1">
                <a:solidFill>
                  <a:srgbClr val="1A1A1A"/>
                </a:solidFill>
                <a:latin typeface="Trebuchet MS"/>
                <a:cs typeface="Trebuchet MS"/>
              </a:rPr>
              <a:t>&amp;</a:t>
            </a:r>
            <a:r>
              <a:rPr dirty="0" sz="2300" spc="-8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50" b="1">
                <a:solidFill>
                  <a:srgbClr val="1A1A1A"/>
                </a:solidFill>
                <a:latin typeface="Trebuchet MS"/>
                <a:cs typeface="Trebuchet MS"/>
              </a:rPr>
              <a:t>Marketing</a:t>
            </a:r>
            <a:r>
              <a:rPr dirty="0" sz="2300" spc="-125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55" b="1">
                <a:solidFill>
                  <a:srgbClr val="1A1A1A"/>
                </a:solidFill>
                <a:latin typeface="Trebuchet MS"/>
                <a:cs typeface="Trebuchet MS"/>
              </a:rPr>
              <a:t>Team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30"/>
              </a:spcBef>
            </a:pPr>
            <a:r>
              <a:rPr dirty="0" spc="125"/>
              <a:t>What</a:t>
            </a:r>
            <a:r>
              <a:rPr dirty="0" spc="-130"/>
              <a:t> </a:t>
            </a:r>
            <a:r>
              <a:rPr dirty="0"/>
              <a:t>is</a:t>
            </a:r>
            <a:r>
              <a:rPr dirty="0" spc="-150"/>
              <a:t> </a:t>
            </a:r>
            <a:r>
              <a:rPr dirty="0" spc="45"/>
              <a:t>phishing?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0877" y="2170302"/>
            <a:ext cx="7091680" cy="2095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650"/>
              </a:lnSpc>
            </a:pP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Phishing</a:t>
            </a:r>
            <a:r>
              <a:rPr dirty="0" sz="14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85858"/>
                </a:solidFill>
                <a:latin typeface="Tahoma"/>
                <a:cs typeface="Tahoma"/>
              </a:rPr>
              <a:t>is</a:t>
            </a:r>
            <a:r>
              <a:rPr dirty="0" sz="14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85858"/>
                </a:solidFill>
                <a:latin typeface="Tahoma"/>
                <a:cs typeface="Tahoma"/>
              </a:rPr>
              <a:t>a</a:t>
            </a:r>
            <a:r>
              <a:rPr dirty="0" sz="1400" spc="-7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cyberattack</a:t>
            </a:r>
            <a:r>
              <a:rPr dirty="0" sz="1400" spc="-9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technique</a:t>
            </a:r>
            <a:r>
              <a:rPr dirty="0" sz="1400" spc="-4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where</a:t>
            </a:r>
            <a:r>
              <a:rPr dirty="0" sz="1400" spc="-114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attackers</a:t>
            </a:r>
            <a:r>
              <a:rPr dirty="0" sz="1400" spc="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pretend</a:t>
            </a:r>
            <a:r>
              <a:rPr dirty="0" sz="1400" spc="-8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585858"/>
                </a:solidFill>
                <a:latin typeface="Tahoma"/>
                <a:cs typeface="Tahoma"/>
              </a:rPr>
              <a:t>to</a:t>
            </a:r>
            <a:r>
              <a:rPr dirty="0" sz="1400" spc="-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be</a:t>
            </a:r>
            <a:r>
              <a:rPr dirty="0" sz="14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trusted</a:t>
            </a:r>
            <a:r>
              <a:rPr dirty="0" sz="1400" spc="-8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organisations</a:t>
            </a:r>
            <a:r>
              <a:rPr dirty="0" sz="1400" spc="-5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85858"/>
                </a:solidFill>
                <a:latin typeface="Tahoma"/>
                <a:cs typeface="Tahoma"/>
              </a:rPr>
              <a:t>or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0877" y="2389377"/>
            <a:ext cx="7471409" cy="2095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650"/>
              </a:lnSpc>
            </a:pP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individuals,</a:t>
            </a:r>
            <a:r>
              <a:rPr dirty="0" sz="1400" spc="-7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to</a:t>
            </a:r>
            <a:r>
              <a:rPr dirty="0" sz="1400" spc="-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trick</a:t>
            </a:r>
            <a:r>
              <a:rPr dirty="0" sz="1400" spc="-1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people</a:t>
            </a:r>
            <a:r>
              <a:rPr dirty="0" sz="1400" spc="-1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into</a:t>
            </a:r>
            <a:r>
              <a:rPr dirty="0" sz="1400" spc="-1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revealing</a:t>
            </a:r>
            <a:r>
              <a:rPr dirty="0" sz="14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sensitive</a:t>
            </a:r>
            <a:r>
              <a:rPr dirty="0" sz="1400" spc="-5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information,</a:t>
            </a:r>
            <a:r>
              <a:rPr dirty="0" sz="1400" spc="-7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such</a:t>
            </a:r>
            <a:r>
              <a:rPr dirty="0" sz="1400" spc="-1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as</a:t>
            </a:r>
            <a:r>
              <a:rPr dirty="0" sz="1400" spc="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585858"/>
                </a:solidFill>
                <a:latin typeface="Tahoma"/>
                <a:cs typeface="Tahoma"/>
              </a:rPr>
              <a:t>–</a:t>
            </a:r>
            <a:r>
              <a:rPr dirty="0" sz="1400" spc="-7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passwords,</a:t>
            </a:r>
            <a:r>
              <a:rPr dirty="0" sz="1400" spc="-7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credit</a:t>
            </a:r>
            <a:r>
              <a:rPr dirty="0" sz="14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85858"/>
                </a:solidFill>
                <a:latin typeface="Tahoma"/>
                <a:cs typeface="Tahoma"/>
              </a:rPr>
              <a:t>card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20877" y="2617977"/>
            <a:ext cx="5988685" cy="2095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650"/>
              </a:lnSpc>
            </a:pPr>
            <a:r>
              <a:rPr dirty="0" sz="1400" spc="-25">
                <a:solidFill>
                  <a:srgbClr val="585858"/>
                </a:solidFill>
                <a:latin typeface="Tahoma"/>
                <a:cs typeface="Tahoma"/>
              </a:rPr>
              <a:t>details,</a:t>
            </a:r>
            <a:r>
              <a:rPr dirty="0" sz="1400" spc="-5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login</a:t>
            </a:r>
            <a:r>
              <a:rPr dirty="0" sz="1400" spc="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credentials</a:t>
            </a:r>
            <a:r>
              <a:rPr dirty="0" sz="1400" spc="-6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585858"/>
                </a:solidFill>
                <a:latin typeface="Tahoma"/>
                <a:cs typeface="Tahoma"/>
              </a:rPr>
              <a:t>–</a:t>
            </a:r>
            <a:r>
              <a:rPr dirty="0" sz="14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usually</a:t>
            </a:r>
            <a:r>
              <a:rPr dirty="0" sz="1400" spc="-9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through</a:t>
            </a:r>
            <a:r>
              <a:rPr dirty="0" sz="1400" spc="-7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585858"/>
                </a:solidFill>
                <a:latin typeface="Tahoma"/>
                <a:cs typeface="Tahoma"/>
              </a:rPr>
              <a:t>emails,</a:t>
            </a:r>
            <a:r>
              <a:rPr dirty="0" sz="14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85858"/>
                </a:solidFill>
                <a:latin typeface="Tahoma"/>
                <a:cs typeface="Tahoma"/>
              </a:rPr>
              <a:t>messages</a:t>
            </a:r>
            <a:r>
              <a:rPr dirty="0" sz="1400" spc="-4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or</a:t>
            </a:r>
            <a:r>
              <a:rPr dirty="0" sz="1400" spc="-1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fake</a:t>
            </a:r>
            <a:r>
              <a:rPr dirty="0" sz="1400" spc="-114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websites.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20877" y="3065652"/>
            <a:ext cx="4385310" cy="2095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650"/>
              </a:lnSpc>
            </a:pP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Goal</a:t>
            </a:r>
            <a:r>
              <a:rPr dirty="0" sz="1400" spc="-9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585858"/>
                </a:solidFill>
                <a:latin typeface="Tahoma"/>
                <a:cs typeface="Tahoma"/>
              </a:rPr>
              <a:t>–</a:t>
            </a:r>
            <a:r>
              <a:rPr dirty="0" sz="14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Steal</a:t>
            </a:r>
            <a:r>
              <a:rPr dirty="0" sz="1400" spc="-8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85858"/>
                </a:solidFill>
                <a:latin typeface="Tahoma"/>
                <a:cs typeface="Tahoma"/>
              </a:rPr>
              <a:t>data,</a:t>
            </a:r>
            <a:r>
              <a:rPr dirty="0" sz="1400" spc="-6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gain</a:t>
            </a:r>
            <a:r>
              <a:rPr dirty="0" sz="1400" spc="-9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system</a:t>
            </a:r>
            <a:r>
              <a:rPr dirty="0" sz="1400" spc="-9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access</a:t>
            </a:r>
            <a:r>
              <a:rPr dirty="0" sz="14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or</a:t>
            </a:r>
            <a:r>
              <a:rPr dirty="0" sz="1400" spc="-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spread</a:t>
            </a:r>
            <a:r>
              <a:rPr dirty="0" sz="1400" spc="-9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malware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0877" y="3513328"/>
            <a:ext cx="7163434" cy="2095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645"/>
              </a:lnSpc>
            </a:pP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Key</a:t>
            </a:r>
            <a:r>
              <a:rPr dirty="0" sz="1400" spc="-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Clue</a:t>
            </a:r>
            <a:r>
              <a:rPr dirty="0" sz="1400" spc="-7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60">
                <a:solidFill>
                  <a:srgbClr val="585858"/>
                </a:solidFill>
                <a:latin typeface="Tahoma"/>
                <a:cs typeface="Tahoma"/>
              </a:rPr>
              <a:t>–</a:t>
            </a:r>
            <a:r>
              <a:rPr dirty="0" sz="14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55">
                <a:solidFill>
                  <a:srgbClr val="585858"/>
                </a:solidFill>
                <a:latin typeface="Tahoma"/>
                <a:cs typeface="Tahoma"/>
              </a:rPr>
              <a:t>It</a:t>
            </a:r>
            <a:r>
              <a:rPr dirty="0" sz="1400" spc="-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looks</a:t>
            </a:r>
            <a:r>
              <a:rPr dirty="0" sz="14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legitimate</a:t>
            </a:r>
            <a:r>
              <a:rPr dirty="0" sz="1400" spc="-114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but</a:t>
            </a:r>
            <a:r>
              <a:rPr dirty="0" sz="1400" spc="-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contains</a:t>
            </a:r>
            <a:r>
              <a:rPr dirty="0" sz="14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urgent</a:t>
            </a:r>
            <a:r>
              <a:rPr dirty="0" sz="1400" spc="-20">
                <a:solidFill>
                  <a:srgbClr val="585858"/>
                </a:solidFill>
                <a:latin typeface="Tahoma"/>
                <a:cs typeface="Tahoma"/>
              </a:rPr>
              <a:t> request,</a:t>
            </a:r>
            <a:r>
              <a:rPr dirty="0" sz="1400" spc="-5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suspicious</a:t>
            </a:r>
            <a:r>
              <a:rPr dirty="0" sz="14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85858"/>
                </a:solidFill>
                <a:latin typeface="Tahoma"/>
                <a:cs typeface="Tahoma"/>
              </a:rPr>
              <a:t>links,</a:t>
            </a:r>
            <a:r>
              <a:rPr dirty="0" sz="14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misspelled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email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20877" y="3732403"/>
            <a:ext cx="5043805" cy="2095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635" rIns="0" bIns="0" rtlCol="0" vert="horz">
            <a:spAutoFit/>
          </a:bodyPr>
          <a:lstStyle/>
          <a:p>
            <a:pPr marL="635">
              <a:lnSpc>
                <a:spcPts val="1645"/>
              </a:lnSpc>
              <a:spcBef>
                <a:spcPts val="5"/>
              </a:spcBef>
            </a:pP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with</a:t>
            </a:r>
            <a:r>
              <a:rPr dirty="0" sz="1400" spc="-7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wrong</a:t>
            </a:r>
            <a:r>
              <a:rPr dirty="0" sz="1400" spc="-9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domain</a:t>
            </a:r>
            <a:r>
              <a:rPr dirty="0" sz="1400" spc="1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85858"/>
                </a:solidFill>
                <a:latin typeface="Tahoma"/>
                <a:cs typeface="Tahoma"/>
              </a:rPr>
              <a:t>address,</a:t>
            </a:r>
            <a:r>
              <a:rPr dirty="0" sz="14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85858"/>
                </a:solidFill>
                <a:latin typeface="Tahoma"/>
                <a:cs typeface="Tahoma"/>
              </a:rPr>
              <a:t>incorrect </a:t>
            </a:r>
            <a:r>
              <a:rPr dirty="0" sz="1400" spc="-20">
                <a:solidFill>
                  <a:srgbClr val="585858"/>
                </a:solidFill>
                <a:latin typeface="Tahoma"/>
                <a:cs typeface="Tahoma"/>
              </a:rPr>
              <a:t>spellings</a:t>
            </a:r>
            <a:r>
              <a:rPr dirty="0" sz="14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and</a:t>
            </a:r>
            <a:r>
              <a:rPr dirty="0" sz="1400" spc="-7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ahoma"/>
                <a:cs typeface="Tahoma"/>
              </a:rPr>
              <a:t>vocabularies.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20864" y="2440431"/>
            <a:ext cx="7473950" cy="2077085"/>
          </a:xfrm>
          <a:custGeom>
            <a:avLst/>
            <a:gdLst/>
            <a:ahLst/>
            <a:cxnLst/>
            <a:rect l="l" t="t" r="r" b="b"/>
            <a:pathLst>
              <a:path w="7473950" h="2077085">
                <a:moveTo>
                  <a:pt x="827100" y="419100"/>
                </a:moveTo>
                <a:lnTo>
                  <a:pt x="0" y="419100"/>
                </a:lnTo>
                <a:lnTo>
                  <a:pt x="0" y="619125"/>
                </a:lnTo>
                <a:lnTo>
                  <a:pt x="827100" y="619125"/>
                </a:lnTo>
                <a:lnTo>
                  <a:pt x="827100" y="419100"/>
                </a:lnTo>
                <a:close/>
              </a:path>
              <a:path w="7473950" h="2077085">
                <a:moveTo>
                  <a:pt x="1733562" y="0"/>
                </a:moveTo>
                <a:lnTo>
                  <a:pt x="0" y="0"/>
                </a:lnTo>
                <a:lnTo>
                  <a:pt x="0" y="200025"/>
                </a:lnTo>
                <a:lnTo>
                  <a:pt x="1733562" y="200025"/>
                </a:lnTo>
                <a:lnTo>
                  <a:pt x="1733562" y="0"/>
                </a:lnTo>
                <a:close/>
              </a:path>
              <a:path w="7473950" h="2077085">
                <a:moveTo>
                  <a:pt x="1838325" y="0"/>
                </a:moveTo>
                <a:lnTo>
                  <a:pt x="1795526" y="0"/>
                </a:lnTo>
                <a:lnTo>
                  <a:pt x="1733613" y="0"/>
                </a:lnTo>
                <a:lnTo>
                  <a:pt x="1733613" y="200025"/>
                </a:lnTo>
                <a:lnTo>
                  <a:pt x="1795462" y="200025"/>
                </a:lnTo>
                <a:lnTo>
                  <a:pt x="1838325" y="200025"/>
                </a:lnTo>
                <a:lnTo>
                  <a:pt x="1838325" y="0"/>
                </a:lnTo>
                <a:close/>
              </a:path>
              <a:path w="7473950" h="2077085">
                <a:moveTo>
                  <a:pt x="1958987" y="209550"/>
                </a:moveTo>
                <a:lnTo>
                  <a:pt x="0" y="209550"/>
                </a:lnTo>
                <a:lnTo>
                  <a:pt x="0" y="409575"/>
                </a:lnTo>
                <a:lnTo>
                  <a:pt x="1958987" y="409575"/>
                </a:lnTo>
                <a:lnTo>
                  <a:pt x="1958987" y="209550"/>
                </a:lnTo>
                <a:close/>
              </a:path>
              <a:path w="7473950" h="2077085">
                <a:moveTo>
                  <a:pt x="2105025" y="1247825"/>
                </a:moveTo>
                <a:lnTo>
                  <a:pt x="2043188" y="1247825"/>
                </a:lnTo>
                <a:lnTo>
                  <a:pt x="0" y="1247825"/>
                </a:lnTo>
                <a:lnTo>
                  <a:pt x="0" y="1447850"/>
                </a:lnTo>
                <a:lnTo>
                  <a:pt x="2043112" y="1447850"/>
                </a:lnTo>
                <a:lnTo>
                  <a:pt x="2105025" y="1447850"/>
                </a:lnTo>
                <a:lnTo>
                  <a:pt x="2105025" y="1247825"/>
                </a:lnTo>
                <a:close/>
              </a:path>
              <a:path w="7473950" h="2077085">
                <a:moveTo>
                  <a:pt x="2251075" y="1876475"/>
                </a:moveTo>
                <a:lnTo>
                  <a:pt x="2208212" y="1876475"/>
                </a:lnTo>
                <a:lnTo>
                  <a:pt x="2113038" y="1876475"/>
                </a:lnTo>
                <a:lnTo>
                  <a:pt x="0" y="1876475"/>
                </a:lnTo>
                <a:lnTo>
                  <a:pt x="0" y="2076500"/>
                </a:lnTo>
                <a:lnTo>
                  <a:pt x="2112962" y="2076500"/>
                </a:lnTo>
                <a:lnTo>
                  <a:pt x="2208212" y="2076500"/>
                </a:lnTo>
                <a:lnTo>
                  <a:pt x="2251075" y="2076500"/>
                </a:lnTo>
                <a:lnTo>
                  <a:pt x="2251075" y="1876475"/>
                </a:lnTo>
                <a:close/>
              </a:path>
              <a:path w="7473950" h="2077085">
                <a:moveTo>
                  <a:pt x="2501900" y="1038225"/>
                </a:moveTo>
                <a:lnTo>
                  <a:pt x="2439987" y="1038225"/>
                </a:lnTo>
                <a:lnTo>
                  <a:pt x="0" y="1038225"/>
                </a:lnTo>
                <a:lnTo>
                  <a:pt x="0" y="1238250"/>
                </a:lnTo>
                <a:lnTo>
                  <a:pt x="2439987" y="1238250"/>
                </a:lnTo>
                <a:lnTo>
                  <a:pt x="2501900" y="1238250"/>
                </a:lnTo>
                <a:lnTo>
                  <a:pt x="2501900" y="1038225"/>
                </a:lnTo>
                <a:close/>
              </a:path>
              <a:path w="7473950" h="2077085">
                <a:moveTo>
                  <a:pt x="3060700" y="1457375"/>
                </a:moveTo>
                <a:lnTo>
                  <a:pt x="3017901" y="1457375"/>
                </a:lnTo>
                <a:lnTo>
                  <a:pt x="2955988" y="1457375"/>
                </a:lnTo>
                <a:lnTo>
                  <a:pt x="0" y="1457375"/>
                </a:lnTo>
                <a:lnTo>
                  <a:pt x="0" y="1657400"/>
                </a:lnTo>
                <a:lnTo>
                  <a:pt x="2955988" y="1657400"/>
                </a:lnTo>
                <a:lnTo>
                  <a:pt x="3017837" y="1657400"/>
                </a:lnTo>
                <a:lnTo>
                  <a:pt x="3060700" y="1657400"/>
                </a:lnTo>
                <a:lnTo>
                  <a:pt x="3060700" y="1457375"/>
                </a:lnTo>
                <a:close/>
              </a:path>
              <a:path w="7473950" h="2077085">
                <a:moveTo>
                  <a:pt x="3568636" y="1247825"/>
                </a:moveTo>
                <a:lnTo>
                  <a:pt x="2147951" y="1247825"/>
                </a:lnTo>
                <a:lnTo>
                  <a:pt x="2105088" y="1247825"/>
                </a:lnTo>
                <a:lnTo>
                  <a:pt x="2105088" y="1447850"/>
                </a:lnTo>
                <a:lnTo>
                  <a:pt x="2147887" y="1447850"/>
                </a:lnTo>
                <a:lnTo>
                  <a:pt x="3568636" y="1447850"/>
                </a:lnTo>
                <a:lnTo>
                  <a:pt x="3568636" y="1247825"/>
                </a:lnTo>
                <a:close/>
              </a:path>
              <a:path w="7473950" h="2077085">
                <a:moveTo>
                  <a:pt x="5038661" y="1247825"/>
                </a:moveTo>
                <a:lnTo>
                  <a:pt x="3630676" y="1247825"/>
                </a:lnTo>
                <a:lnTo>
                  <a:pt x="3568763" y="1247825"/>
                </a:lnTo>
                <a:lnTo>
                  <a:pt x="3568763" y="1447850"/>
                </a:lnTo>
                <a:lnTo>
                  <a:pt x="3630612" y="1447850"/>
                </a:lnTo>
                <a:lnTo>
                  <a:pt x="5038661" y="1447850"/>
                </a:lnTo>
                <a:lnTo>
                  <a:pt x="5038661" y="1247825"/>
                </a:lnTo>
                <a:close/>
              </a:path>
              <a:path w="7473950" h="2077085">
                <a:moveTo>
                  <a:pt x="5335587" y="628650"/>
                </a:moveTo>
                <a:lnTo>
                  <a:pt x="2382901" y="628650"/>
                </a:lnTo>
                <a:lnTo>
                  <a:pt x="2340038" y="628650"/>
                </a:lnTo>
                <a:lnTo>
                  <a:pt x="2340038" y="828675"/>
                </a:lnTo>
                <a:lnTo>
                  <a:pt x="2339975" y="628650"/>
                </a:lnTo>
                <a:lnTo>
                  <a:pt x="2278138" y="628650"/>
                </a:lnTo>
                <a:lnTo>
                  <a:pt x="0" y="628650"/>
                </a:lnTo>
                <a:lnTo>
                  <a:pt x="0" y="828675"/>
                </a:lnTo>
                <a:lnTo>
                  <a:pt x="0" y="1028700"/>
                </a:lnTo>
                <a:lnTo>
                  <a:pt x="2317762" y="1028700"/>
                </a:lnTo>
                <a:lnTo>
                  <a:pt x="2317762" y="828675"/>
                </a:lnTo>
                <a:lnTo>
                  <a:pt x="2317813" y="1028700"/>
                </a:lnTo>
                <a:lnTo>
                  <a:pt x="2379662" y="1028700"/>
                </a:lnTo>
                <a:lnTo>
                  <a:pt x="2422525" y="1028700"/>
                </a:lnTo>
                <a:lnTo>
                  <a:pt x="2422525" y="828675"/>
                </a:lnTo>
                <a:lnTo>
                  <a:pt x="2422588" y="1028700"/>
                </a:lnTo>
                <a:lnTo>
                  <a:pt x="5308663" y="1028700"/>
                </a:lnTo>
                <a:lnTo>
                  <a:pt x="5308663" y="828675"/>
                </a:lnTo>
                <a:lnTo>
                  <a:pt x="5335587" y="828675"/>
                </a:lnTo>
                <a:lnTo>
                  <a:pt x="5335587" y="628650"/>
                </a:lnTo>
                <a:close/>
              </a:path>
              <a:path w="7473950" h="2077085">
                <a:moveTo>
                  <a:pt x="5337238" y="1038225"/>
                </a:moveTo>
                <a:lnTo>
                  <a:pt x="2544826" y="1038225"/>
                </a:lnTo>
                <a:lnTo>
                  <a:pt x="2501963" y="1038225"/>
                </a:lnTo>
                <a:lnTo>
                  <a:pt x="2501963" y="1238250"/>
                </a:lnTo>
                <a:lnTo>
                  <a:pt x="2544762" y="1238250"/>
                </a:lnTo>
                <a:lnTo>
                  <a:pt x="5337238" y="1238250"/>
                </a:lnTo>
                <a:lnTo>
                  <a:pt x="5337238" y="1038225"/>
                </a:lnTo>
                <a:close/>
              </a:path>
              <a:path w="7473950" h="2077085">
                <a:moveTo>
                  <a:pt x="5465889" y="1457375"/>
                </a:moveTo>
                <a:lnTo>
                  <a:pt x="3060763" y="1457375"/>
                </a:lnTo>
                <a:lnTo>
                  <a:pt x="3060763" y="1657400"/>
                </a:lnTo>
                <a:lnTo>
                  <a:pt x="5465889" y="1657400"/>
                </a:lnTo>
                <a:lnTo>
                  <a:pt x="5465889" y="1457375"/>
                </a:lnTo>
                <a:close/>
              </a:path>
              <a:path w="7473950" h="2077085">
                <a:moveTo>
                  <a:pt x="5516689" y="0"/>
                </a:moveTo>
                <a:lnTo>
                  <a:pt x="1838388" y="0"/>
                </a:lnTo>
                <a:lnTo>
                  <a:pt x="1838388" y="200025"/>
                </a:lnTo>
                <a:lnTo>
                  <a:pt x="5516689" y="200025"/>
                </a:lnTo>
                <a:lnTo>
                  <a:pt x="5516689" y="0"/>
                </a:lnTo>
                <a:close/>
              </a:path>
              <a:path w="7473950" h="2077085">
                <a:moveTo>
                  <a:pt x="5902325" y="209550"/>
                </a:moveTo>
                <a:lnTo>
                  <a:pt x="5902325" y="209550"/>
                </a:lnTo>
                <a:lnTo>
                  <a:pt x="1959038" y="209550"/>
                </a:lnTo>
                <a:lnTo>
                  <a:pt x="1959038" y="409575"/>
                </a:lnTo>
                <a:lnTo>
                  <a:pt x="5902325" y="409575"/>
                </a:lnTo>
                <a:lnTo>
                  <a:pt x="5902325" y="209550"/>
                </a:lnTo>
                <a:close/>
              </a:path>
              <a:path w="7473950" h="2077085">
                <a:moveTo>
                  <a:pt x="6661213" y="1666925"/>
                </a:moveTo>
                <a:lnTo>
                  <a:pt x="6661213" y="1666925"/>
                </a:lnTo>
                <a:lnTo>
                  <a:pt x="0" y="1666925"/>
                </a:lnTo>
                <a:lnTo>
                  <a:pt x="0" y="1866950"/>
                </a:lnTo>
                <a:lnTo>
                  <a:pt x="6661213" y="1866950"/>
                </a:lnTo>
                <a:lnTo>
                  <a:pt x="6661213" y="1666925"/>
                </a:lnTo>
                <a:close/>
              </a:path>
              <a:path w="7473950" h="2077085">
                <a:moveTo>
                  <a:pt x="6759638" y="1876475"/>
                </a:moveTo>
                <a:lnTo>
                  <a:pt x="2251138" y="1876475"/>
                </a:lnTo>
                <a:lnTo>
                  <a:pt x="2251138" y="2076500"/>
                </a:lnTo>
                <a:lnTo>
                  <a:pt x="6759638" y="2076500"/>
                </a:lnTo>
                <a:lnTo>
                  <a:pt x="6759638" y="1876475"/>
                </a:lnTo>
                <a:close/>
              </a:path>
              <a:path w="7473950" h="2077085">
                <a:moveTo>
                  <a:pt x="7473950" y="209550"/>
                </a:moveTo>
                <a:lnTo>
                  <a:pt x="7412037" y="209550"/>
                </a:lnTo>
                <a:lnTo>
                  <a:pt x="5902388" y="209550"/>
                </a:lnTo>
                <a:lnTo>
                  <a:pt x="5902388" y="409575"/>
                </a:lnTo>
                <a:lnTo>
                  <a:pt x="7412037" y="409575"/>
                </a:lnTo>
                <a:lnTo>
                  <a:pt x="7473950" y="409575"/>
                </a:lnTo>
                <a:lnTo>
                  <a:pt x="7473950" y="2095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20877" y="2021332"/>
            <a:ext cx="2298700" cy="20002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6985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55"/>
              </a:spcBef>
            </a:pPr>
            <a:r>
              <a:rPr dirty="0" sz="1250">
                <a:solidFill>
                  <a:srgbClr val="585858"/>
                </a:solidFill>
                <a:latin typeface="Tahoma"/>
                <a:cs typeface="Tahoma"/>
              </a:rPr>
              <a:t>Top</a:t>
            </a:r>
            <a:r>
              <a:rPr dirty="0" sz="1250" spc="9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585858"/>
                </a:solidFill>
                <a:latin typeface="Tahoma"/>
                <a:cs typeface="Tahoma"/>
              </a:rPr>
              <a:t>tactics</a:t>
            </a:r>
            <a:r>
              <a:rPr dirty="0" sz="1250" spc="114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585858"/>
                </a:solidFill>
                <a:latin typeface="Tahoma"/>
                <a:cs typeface="Tahoma"/>
              </a:rPr>
              <a:t>cyber</a:t>
            </a:r>
            <a:r>
              <a:rPr dirty="0" sz="1250" spc="1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585858"/>
                </a:solidFill>
                <a:latin typeface="Tahoma"/>
                <a:cs typeface="Tahoma"/>
              </a:rPr>
              <a:t>attackers</a:t>
            </a:r>
            <a:r>
              <a:rPr dirty="0" sz="1250" spc="114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585858"/>
                </a:solidFill>
                <a:latin typeface="Tahoma"/>
                <a:cs typeface="Tahoma"/>
              </a:rPr>
              <a:t>use: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245"/>
              </a:spcBef>
              <a:buAutoNum type="arabicPeriod"/>
              <a:tabLst>
                <a:tab pos="191770" algn="l"/>
              </a:tabLst>
            </a:pPr>
            <a:r>
              <a:rPr dirty="0"/>
              <a:t>Urgency</a:t>
            </a:r>
            <a:r>
              <a:rPr dirty="0" spc="5"/>
              <a:t> </a:t>
            </a:r>
            <a:r>
              <a:rPr dirty="0"/>
              <a:t>and</a:t>
            </a:r>
            <a:r>
              <a:rPr dirty="0" spc="35"/>
              <a:t> </a:t>
            </a:r>
            <a:r>
              <a:rPr dirty="0"/>
              <a:t>Threats</a:t>
            </a:r>
            <a:r>
              <a:rPr dirty="0" spc="90"/>
              <a:t> </a:t>
            </a:r>
            <a:r>
              <a:rPr dirty="0"/>
              <a:t>-</a:t>
            </a:r>
            <a:r>
              <a:rPr dirty="0" spc="50"/>
              <a:t> </a:t>
            </a:r>
            <a:r>
              <a:rPr dirty="0" spc="55"/>
              <a:t>"Act</a:t>
            </a:r>
            <a:r>
              <a:rPr dirty="0" spc="-20"/>
              <a:t> </a:t>
            </a:r>
            <a:r>
              <a:rPr dirty="0"/>
              <a:t>within</a:t>
            </a:r>
            <a:r>
              <a:rPr dirty="0" spc="40"/>
              <a:t> </a:t>
            </a:r>
            <a:r>
              <a:rPr dirty="0"/>
              <a:t>1</a:t>
            </a:r>
            <a:r>
              <a:rPr dirty="0" spc="100"/>
              <a:t> </a:t>
            </a:r>
            <a:r>
              <a:rPr dirty="0"/>
              <a:t>hour,</a:t>
            </a:r>
            <a:r>
              <a:rPr dirty="0" spc="95"/>
              <a:t> </a:t>
            </a:r>
            <a:r>
              <a:rPr dirty="0"/>
              <a:t>or</a:t>
            </a:r>
            <a:r>
              <a:rPr dirty="0" spc="-30"/>
              <a:t> </a:t>
            </a:r>
            <a:r>
              <a:rPr dirty="0"/>
              <a:t>your</a:t>
            </a:r>
            <a:r>
              <a:rPr dirty="0" spc="65"/>
              <a:t> </a:t>
            </a:r>
            <a:r>
              <a:rPr dirty="0"/>
              <a:t>account</a:t>
            </a:r>
            <a:r>
              <a:rPr dirty="0" spc="75"/>
              <a:t> </a:t>
            </a:r>
            <a:r>
              <a:rPr dirty="0"/>
              <a:t>will</a:t>
            </a:r>
            <a:r>
              <a:rPr dirty="0" spc="80"/>
              <a:t> </a:t>
            </a:r>
            <a:r>
              <a:rPr dirty="0"/>
              <a:t>be</a:t>
            </a:r>
            <a:r>
              <a:rPr dirty="0" spc="85"/>
              <a:t> </a:t>
            </a:r>
            <a:r>
              <a:rPr dirty="0" spc="-10"/>
              <a:t>closed".</a:t>
            </a:r>
          </a:p>
          <a:p>
            <a:pPr marL="12700" marR="5080" indent="179070">
              <a:lnSpc>
                <a:spcPct val="110200"/>
              </a:lnSpc>
              <a:buAutoNum type="arabicPeriod"/>
              <a:tabLst>
                <a:tab pos="191770" algn="l"/>
              </a:tabLst>
            </a:pPr>
            <a:r>
              <a:rPr dirty="0"/>
              <a:t>Spoofed</a:t>
            </a:r>
            <a:r>
              <a:rPr dirty="0" spc="20"/>
              <a:t> </a:t>
            </a:r>
            <a:r>
              <a:rPr dirty="0"/>
              <a:t>sender</a:t>
            </a:r>
            <a:r>
              <a:rPr dirty="0" spc="55"/>
              <a:t> </a:t>
            </a:r>
            <a:r>
              <a:rPr dirty="0"/>
              <a:t>address</a:t>
            </a:r>
            <a:r>
              <a:rPr dirty="0" spc="55"/>
              <a:t> </a:t>
            </a:r>
            <a:r>
              <a:rPr dirty="0"/>
              <a:t>–</a:t>
            </a:r>
            <a:r>
              <a:rPr dirty="0" spc="45"/>
              <a:t> </a:t>
            </a:r>
            <a:r>
              <a:rPr dirty="0"/>
              <a:t>Looks</a:t>
            </a:r>
            <a:r>
              <a:rPr dirty="0" spc="40"/>
              <a:t> </a:t>
            </a:r>
            <a:r>
              <a:rPr dirty="0"/>
              <a:t>like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30"/>
              <a:t> </a:t>
            </a:r>
            <a:r>
              <a:rPr dirty="0"/>
              <a:t>legit</a:t>
            </a:r>
            <a:r>
              <a:rPr dirty="0" spc="70"/>
              <a:t> </a:t>
            </a:r>
            <a:r>
              <a:rPr dirty="0"/>
              <a:t>domain,</a:t>
            </a:r>
            <a:r>
              <a:rPr dirty="0" spc="-10"/>
              <a:t> </a:t>
            </a:r>
            <a:r>
              <a:rPr dirty="0"/>
              <a:t>but</a:t>
            </a:r>
            <a:r>
              <a:rPr dirty="0" spc="-25"/>
              <a:t> </a:t>
            </a:r>
            <a:r>
              <a:rPr dirty="0" spc="60"/>
              <a:t>it</a:t>
            </a:r>
            <a:r>
              <a:rPr dirty="0" spc="-25"/>
              <a:t> </a:t>
            </a:r>
            <a:r>
              <a:rPr dirty="0"/>
              <a:t>isn't.</a:t>
            </a:r>
            <a:r>
              <a:rPr dirty="0" spc="70"/>
              <a:t> </a:t>
            </a:r>
            <a:r>
              <a:rPr dirty="0" spc="55"/>
              <a:t>For</a:t>
            </a:r>
            <a:r>
              <a:rPr dirty="0" spc="-35"/>
              <a:t> </a:t>
            </a:r>
            <a:r>
              <a:rPr dirty="0"/>
              <a:t>example,</a:t>
            </a:r>
            <a:r>
              <a:rPr dirty="0" spc="135"/>
              <a:t> </a:t>
            </a:r>
            <a:r>
              <a:rPr dirty="0" u="sng">
                <a:solidFill>
                  <a:srgbClr val="1C3678"/>
                </a:solidFill>
                <a:uFill>
                  <a:solidFill>
                    <a:srgbClr val="1C3678"/>
                  </a:solidFill>
                </a:uFill>
                <a:hlinkClick r:id="rId2"/>
              </a:rPr>
              <a:t>it</a:t>
            </a:r>
            <a:r>
              <a:rPr dirty="0" u="sng">
                <a:solidFill>
                  <a:srgbClr val="1C3678"/>
                </a:solidFill>
                <a:uFill>
                  <a:solidFill>
                    <a:srgbClr val="1C3678"/>
                  </a:solidFill>
                </a:uFill>
                <a:hlinkClick r:id="rId2"/>
              </a:rPr>
              <a:t>-</a:t>
            </a:r>
            <a:r>
              <a:rPr dirty="0" u="sng" spc="-10">
                <a:solidFill>
                  <a:srgbClr val="1C3678"/>
                </a:solidFill>
                <a:uFill>
                  <a:solidFill>
                    <a:srgbClr val="1C3678"/>
                  </a:solidFill>
                </a:uFill>
                <a:hlinkClick r:id="rId2"/>
              </a:rPr>
              <a:t>support@mastercard</a:t>
            </a:r>
            <a:r>
              <a:rPr dirty="0" u="sng" spc="-10">
                <a:solidFill>
                  <a:srgbClr val="1C3678"/>
                </a:solidFill>
                <a:uFill>
                  <a:solidFill>
                    <a:srgbClr val="1C3678"/>
                  </a:solidFill>
                </a:uFill>
                <a:hlinkClick r:id="rId2"/>
              </a:rPr>
              <a:t>-</a:t>
            </a:r>
            <a:r>
              <a:rPr dirty="0" spc="-10">
                <a:solidFill>
                  <a:srgbClr val="1C3678"/>
                </a:solidFill>
              </a:rPr>
              <a:t> </a:t>
            </a:r>
            <a:r>
              <a:rPr dirty="0" u="sng" spc="-10">
                <a:solidFill>
                  <a:srgbClr val="1C3678"/>
                </a:solidFill>
                <a:uFill>
                  <a:solidFill>
                    <a:srgbClr val="1C3678"/>
                  </a:solidFill>
                </a:uFill>
                <a:hlinkClick r:id="rId2"/>
              </a:rPr>
              <a:t>secure.com</a:t>
            </a:r>
          </a:p>
          <a:p>
            <a:pPr marL="191770" indent="-179070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1770" algn="l"/>
              </a:tabLst>
            </a:pPr>
            <a:r>
              <a:rPr dirty="0" spc="10"/>
              <a:t>Mismatched</a:t>
            </a:r>
            <a:r>
              <a:rPr dirty="0"/>
              <a:t> </a:t>
            </a:r>
            <a:r>
              <a:rPr dirty="0" spc="10"/>
              <a:t>or</a:t>
            </a:r>
            <a:r>
              <a:rPr dirty="0" spc="30"/>
              <a:t> </a:t>
            </a:r>
            <a:r>
              <a:rPr dirty="0" spc="10"/>
              <a:t>masked</a:t>
            </a:r>
            <a:r>
              <a:rPr dirty="0" spc="5"/>
              <a:t> </a:t>
            </a:r>
            <a:r>
              <a:rPr dirty="0" spc="10"/>
              <a:t>links</a:t>
            </a:r>
            <a:r>
              <a:rPr dirty="0" spc="70"/>
              <a:t> </a:t>
            </a:r>
            <a:r>
              <a:rPr dirty="0" spc="10"/>
              <a:t>-</a:t>
            </a:r>
            <a:r>
              <a:rPr dirty="0" spc="20"/>
              <a:t> </a:t>
            </a:r>
            <a:r>
              <a:rPr dirty="0" spc="10"/>
              <a:t>Link</a:t>
            </a:r>
            <a:r>
              <a:rPr dirty="0" spc="-10"/>
              <a:t> </a:t>
            </a:r>
            <a:r>
              <a:rPr dirty="0" spc="10"/>
              <a:t>text</a:t>
            </a:r>
            <a:r>
              <a:rPr dirty="0" spc="45"/>
              <a:t> </a:t>
            </a:r>
            <a:r>
              <a:rPr dirty="0" spc="10"/>
              <a:t>looks</a:t>
            </a:r>
            <a:r>
              <a:rPr dirty="0" spc="20"/>
              <a:t> </a:t>
            </a:r>
            <a:r>
              <a:rPr dirty="0" spc="10"/>
              <a:t>legit,</a:t>
            </a:r>
            <a:r>
              <a:rPr dirty="0" spc="65"/>
              <a:t> </a:t>
            </a:r>
            <a:r>
              <a:rPr dirty="0" spc="10"/>
              <a:t>but</a:t>
            </a:r>
            <a:r>
              <a:rPr dirty="0" spc="40"/>
              <a:t> </a:t>
            </a:r>
            <a:r>
              <a:rPr dirty="0" spc="10"/>
              <a:t>URL</a:t>
            </a:r>
            <a:r>
              <a:rPr dirty="0" spc="-15"/>
              <a:t> </a:t>
            </a:r>
            <a:r>
              <a:rPr dirty="0" spc="10"/>
              <a:t>is</a:t>
            </a:r>
            <a:r>
              <a:rPr dirty="0" spc="20"/>
              <a:t> </a:t>
            </a:r>
            <a:r>
              <a:rPr dirty="0" spc="-10"/>
              <a:t>different.</a:t>
            </a:r>
          </a:p>
          <a:p>
            <a:pPr marL="191770" indent="-179070">
              <a:lnSpc>
                <a:spcPct val="100000"/>
              </a:lnSpc>
              <a:spcBef>
                <a:spcPts val="80"/>
              </a:spcBef>
              <a:buAutoNum type="arabicPeriod"/>
              <a:tabLst>
                <a:tab pos="191770" algn="l"/>
              </a:tabLst>
            </a:pPr>
            <a:r>
              <a:rPr dirty="0" spc="10"/>
              <a:t>Generic</a:t>
            </a:r>
            <a:r>
              <a:rPr dirty="0" spc="55"/>
              <a:t> </a:t>
            </a:r>
            <a:r>
              <a:rPr dirty="0" spc="10"/>
              <a:t>or</a:t>
            </a:r>
            <a:r>
              <a:rPr dirty="0" spc="-45"/>
              <a:t> </a:t>
            </a:r>
            <a:r>
              <a:rPr dirty="0" spc="10"/>
              <a:t>incorrect</a:t>
            </a:r>
            <a:r>
              <a:rPr dirty="0" spc="-30"/>
              <a:t> </a:t>
            </a:r>
            <a:r>
              <a:rPr dirty="0" spc="10"/>
              <a:t>greeting</a:t>
            </a:r>
            <a:r>
              <a:rPr dirty="0" spc="60"/>
              <a:t> </a:t>
            </a:r>
            <a:r>
              <a:rPr dirty="0" spc="10"/>
              <a:t>-</a:t>
            </a:r>
            <a:r>
              <a:rPr dirty="0" spc="35"/>
              <a:t> </a:t>
            </a:r>
            <a:r>
              <a:rPr dirty="0" spc="10"/>
              <a:t>"Dear</a:t>
            </a:r>
            <a:r>
              <a:rPr dirty="0" spc="-40"/>
              <a:t> </a:t>
            </a:r>
            <a:r>
              <a:rPr dirty="0" spc="10"/>
              <a:t>Customer",</a:t>
            </a:r>
            <a:r>
              <a:rPr dirty="0" spc="80"/>
              <a:t> </a:t>
            </a:r>
            <a:r>
              <a:rPr dirty="0" spc="10"/>
              <a:t>instead</a:t>
            </a:r>
            <a:r>
              <a:rPr dirty="0" spc="20"/>
              <a:t> </a:t>
            </a:r>
            <a:r>
              <a:rPr dirty="0" spc="55"/>
              <a:t>of</a:t>
            </a:r>
            <a:r>
              <a:rPr dirty="0" spc="70"/>
              <a:t> </a:t>
            </a:r>
            <a:r>
              <a:rPr dirty="0" spc="10"/>
              <a:t>your</a:t>
            </a:r>
            <a:r>
              <a:rPr dirty="0" spc="50"/>
              <a:t> </a:t>
            </a:r>
            <a:r>
              <a:rPr dirty="0" spc="-10"/>
              <a:t>name.</a:t>
            </a:r>
          </a:p>
          <a:p>
            <a:pPr marL="191770" indent="-17907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191770" algn="l"/>
              </a:tabLst>
            </a:pPr>
            <a:r>
              <a:rPr dirty="0" spc="55"/>
              <a:t>Wrong</a:t>
            </a:r>
            <a:r>
              <a:rPr dirty="0" spc="-45"/>
              <a:t> </a:t>
            </a:r>
            <a:r>
              <a:rPr dirty="0" spc="10"/>
              <a:t>spelling</a:t>
            </a:r>
            <a:r>
              <a:rPr dirty="0" spc="-45"/>
              <a:t> </a:t>
            </a:r>
            <a:r>
              <a:rPr dirty="0" spc="95"/>
              <a:t>/</a:t>
            </a:r>
            <a:r>
              <a:rPr dirty="0" spc="-25"/>
              <a:t> </a:t>
            </a:r>
            <a:r>
              <a:rPr dirty="0" spc="50"/>
              <a:t>odd</a:t>
            </a:r>
            <a:r>
              <a:rPr dirty="0" spc="-15"/>
              <a:t> </a:t>
            </a:r>
            <a:r>
              <a:rPr dirty="0" spc="10"/>
              <a:t>grammar</a:t>
            </a:r>
            <a:r>
              <a:rPr dirty="0" spc="65"/>
              <a:t> </a:t>
            </a:r>
            <a:r>
              <a:rPr dirty="0" spc="10"/>
              <a:t>-</a:t>
            </a:r>
            <a:r>
              <a:rPr dirty="0" spc="5"/>
              <a:t> </a:t>
            </a:r>
            <a:r>
              <a:rPr dirty="0" spc="10"/>
              <a:t>Suspicious</a:t>
            </a:r>
            <a:r>
              <a:rPr dirty="0" spc="5"/>
              <a:t> </a:t>
            </a:r>
            <a:r>
              <a:rPr dirty="0" spc="10"/>
              <a:t>formatting</a:t>
            </a:r>
            <a:r>
              <a:rPr dirty="0" spc="-35"/>
              <a:t> </a:t>
            </a:r>
            <a:r>
              <a:rPr dirty="0" spc="10"/>
              <a:t>or</a:t>
            </a:r>
            <a:r>
              <a:rPr dirty="0" spc="15"/>
              <a:t> </a:t>
            </a:r>
            <a:r>
              <a:rPr dirty="0" spc="-10"/>
              <a:t>punctuations.</a:t>
            </a:r>
          </a:p>
          <a:p>
            <a:pPr marL="191770" indent="-179070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1770" algn="l"/>
              </a:tabLst>
            </a:pPr>
            <a:r>
              <a:rPr dirty="0"/>
              <a:t>Unexpected</a:t>
            </a:r>
            <a:r>
              <a:rPr dirty="0" spc="155"/>
              <a:t> </a:t>
            </a:r>
            <a:r>
              <a:rPr dirty="0"/>
              <a:t>attachments</a:t>
            </a:r>
            <a:r>
              <a:rPr dirty="0" spc="60"/>
              <a:t> </a:t>
            </a:r>
            <a:r>
              <a:rPr dirty="0"/>
              <a:t>-</a:t>
            </a:r>
            <a:r>
              <a:rPr dirty="0" spc="75"/>
              <a:t> </a:t>
            </a:r>
            <a:r>
              <a:rPr dirty="0"/>
              <a:t>E.g</a:t>
            </a:r>
            <a:r>
              <a:rPr dirty="0" spc="120"/>
              <a:t> </a:t>
            </a:r>
            <a:r>
              <a:rPr dirty="0" spc="-10"/>
              <a:t>.zip,</a:t>
            </a:r>
            <a:r>
              <a:rPr dirty="0" spc="25"/>
              <a:t> </a:t>
            </a:r>
            <a:r>
              <a:rPr dirty="0" spc="-10"/>
              <a:t>.exe,</a:t>
            </a:r>
            <a:r>
              <a:rPr dirty="0" spc="120"/>
              <a:t> </a:t>
            </a:r>
            <a:r>
              <a:rPr dirty="0"/>
              <a:t>macro-enabled</a:t>
            </a:r>
            <a:r>
              <a:rPr dirty="0" spc="55"/>
              <a:t> </a:t>
            </a:r>
            <a:r>
              <a:rPr dirty="0"/>
              <a:t>office</a:t>
            </a:r>
            <a:r>
              <a:rPr dirty="0" spc="110"/>
              <a:t> </a:t>
            </a:r>
            <a:r>
              <a:rPr dirty="0" spc="-10"/>
              <a:t>files.</a:t>
            </a:r>
          </a:p>
          <a:p>
            <a:pPr marL="191770" indent="-17907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191770" algn="l"/>
              </a:tabLst>
            </a:pPr>
            <a:r>
              <a:rPr dirty="0"/>
              <a:t>Request</a:t>
            </a:r>
            <a:r>
              <a:rPr dirty="0" spc="20"/>
              <a:t> </a:t>
            </a:r>
            <a:r>
              <a:rPr dirty="0"/>
              <a:t>for</a:t>
            </a:r>
            <a:r>
              <a:rPr dirty="0" spc="110"/>
              <a:t> </a:t>
            </a:r>
            <a:r>
              <a:rPr dirty="0"/>
              <a:t>credentials</a:t>
            </a:r>
            <a:r>
              <a:rPr dirty="0" spc="100"/>
              <a:t> </a:t>
            </a:r>
            <a:r>
              <a:rPr dirty="0"/>
              <a:t>or</a:t>
            </a:r>
            <a:r>
              <a:rPr dirty="0" spc="114"/>
              <a:t> </a:t>
            </a:r>
            <a:r>
              <a:rPr dirty="0"/>
              <a:t>verification</a:t>
            </a:r>
            <a:r>
              <a:rPr dirty="0" spc="180"/>
              <a:t> </a:t>
            </a:r>
            <a:r>
              <a:rPr dirty="0"/>
              <a:t>-</a:t>
            </a:r>
            <a:r>
              <a:rPr dirty="0" spc="100"/>
              <a:t> </a:t>
            </a:r>
            <a:r>
              <a:rPr dirty="0"/>
              <a:t>"Confirm</a:t>
            </a:r>
            <a:r>
              <a:rPr dirty="0" spc="135"/>
              <a:t> </a:t>
            </a:r>
            <a:r>
              <a:rPr dirty="0"/>
              <a:t>password</a:t>
            </a:r>
            <a:r>
              <a:rPr dirty="0" spc="80"/>
              <a:t> </a:t>
            </a:r>
            <a:r>
              <a:rPr dirty="0" spc="95"/>
              <a:t>/</a:t>
            </a:r>
            <a:r>
              <a:rPr dirty="0" spc="170"/>
              <a:t> </a:t>
            </a:r>
            <a:r>
              <a:rPr dirty="0"/>
              <a:t>enter</a:t>
            </a:r>
            <a:r>
              <a:rPr dirty="0" spc="110"/>
              <a:t> </a:t>
            </a:r>
            <a:r>
              <a:rPr dirty="0" spc="-10"/>
              <a:t>OTP".</a:t>
            </a:r>
          </a:p>
          <a:p>
            <a:pPr marL="191770" indent="-17907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191770" algn="l"/>
              </a:tabLst>
            </a:pPr>
            <a:r>
              <a:rPr dirty="0"/>
              <a:t>Fake</a:t>
            </a:r>
            <a:r>
              <a:rPr dirty="0" spc="100"/>
              <a:t> </a:t>
            </a:r>
            <a:r>
              <a:rPr dirty="0"/>
              <a:t>logos</a:t>
            </a:r>
            <a:r>
              <a:rPr dirty="0" spc="60"/>
              <a:t> </a:t>
            </a:r>
            <a:r>
              <a:rPr dirty="0"/>
              <a:t>or</a:t>
            </a:r>
            <a:r>
              <a:rPr dirty="0" spc="75"/>
              <a:t> </a:t>
            </a:r>
            <a:r>
              <a:rPr dirty="0"/>
              <a:t>over</a:t>
            </a:r>
            <a:r>
              <a:rPr dirty="0" spc="80"/>
              <a:t> </a:t>
            </a:r>
            <a:r>
              <a:rPr dirty="0"/>
              <a:t>polished</a:t>
            </a:r>
            <a:r>
              <a:rPr dirty="0" spc="50"/>
              <a:t> </a:t>
            </a:r>
            <a:r>
              <a:rPr dirty="0"/>
              <a:t>branding</a:t>
            </a:r>
            <a:r>
              <a:rPr dirty="0" spc="155"/>
              <a:t> </a:t>
            </a:r>
            <a:r>
              <a:rPr dirty="0"/>
              <a:t>–</a:t>
            </a:r>
            <a:r>
              <a:rPr dirty="0" spc="60"/>
              <a:t> </a:t>
            </a:r>
            <a:r>
              <a:rPr dirty="0" spc="-20"/>
              <a:t>Images</a:t>
            </a:r>
            <a:r>
              <a:rPr dirty="0" spc="65"/>
              <a:t> </a:t>
            </a:r>
            <a:r>
              <a:rPr dirty="0"/>
              <a:t>pasted</a:t>
            </a:r>
            <a:r>
              <a:rPr dirty="0" spc="45"/>
              <a:t> </a:t>
            </a:r>
            <a:r>
              <a:rPr dirty="0"/>
              <a:t>in,</a:t>
            </a:r>
            <a:r>
              <a:rPr dirty="0" spc="110"/>
              <a:t> </a:t>
            </a:r>
            <a:r>
              <a:rPr dirty="0"/>
              <a:t>but</a:t>
            </a:r>
            <a:r>
              <a:rPr dirty="0" spc="90"/>
              <a:t> </a:t>
            </a:r>
            <a:r>
              <a:rPr dirty="0"/>
              <a:t>contact</a:t>
            </a:r>
            <a:r>
              <a:rPr dirty="0" spc="-15"/>
              <a:t> </a:t>
            </a:r>
            <a:r>
              <a:rPr dirty="0"/>
              <a:t>information</a:t>
            </a:r>
            <a:r>
              <a:rPr dirty="0" spc="50"/>
              <a:t> </a:t>
            </a:r>
            <a:r>
              <a:rPr dirty="0" spc="-10"/>
              <a:t>missing.</a:t>
            </a:r>
          </a:p>
          <a:p>
            <a:pPr marL="191770" indent="-179070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191770" algn="l"/>
              </a:tabLst>
            </a:pPr>
            <a:r>
              <a:rPr dirty="0"/>
              <a:t>Unusual</a:t>
            </a:r>
            <a:r>
              <a:rPr dirty="0" spc="-5"/>
              <a:t> </a:t>
            </a:r>
            <a:r>
              <a:rPr dirty="0"/>
              <a:t>sender</a:t>
            </a:r>
            <a:r>
              <a:rPr dirty="0" spc="80"/>
              <a:t> </a:t>
            </a:r>
            <a:r>
              <a:rPr dirty="0"/>
              <a:t>behaviour</a:t>
            </a:r>
            <a:r>
              <a:rPr dirty="0" spc="110"/>
              <a:t> </a:t>
            </a:r>
            <a:r>
              <a:rPr dirty="0"/>
              <a:t>–</a:t>
            </a:r>
            <a:r>
              <a:rPr dirty="0" spc="65"/>
              <a:t> New</a:t>
            </a:r>
            <a:r>
              <a:rPr dirty="0" spc="160"/>
              <a:t> </a:t>
            </a:r>
            <a:r>
              <a:rPr dirty="0"/>
              <a:t>person</a:t>
            </a:r>
            <a:r>
              <a:rPr dirty="0" spc="60"/>
              <a:t> </a:t>
            </a:r>
            <a:r>
              <a:rPr dirty="0"/>
              <a:t>in</a:t>
            </a:r>
            <a:r>
              <a:rPr dirty="0" spc="150"/>
              <a:t> </a:t>
            </a:r>
            <a:r>
              <a:rPr dirty="0"/>
              <a:t>the</a:t>
            </a:r>
            <a:r>
              <a:rPr dirty="0" spc="100"/>
              <a:t> </a:t>
            </a:r>
            <a:r>
              <a:rPr dirty="0"/>
              <a:t>organisation,</a:t>
            </a:r>
            <a:r>
              <a:rPr dirty="0" spc="20"/>
              <a:t> </a:t>
            </a:r>
            <a:r>
              <a:rPr dirty="0"/>
              <a:t>requesting</a:t>
            </a:r>
            <a:r>
              <a:rPr dirty="0" spc="20"/>
              <a:t> </a:t>
            </a:r>
            <a:r>
              <a:rPr dirty="0"/>
              <a:t>for</a:t>
            </a:r>
            <a:r>
              <a:rPr dirty="0" spc="85"/>
              <a:t> </a:t>
            </a:r>
            <a:r>
              <a:rPr dirty="0"/>
              <a:t>money</a:t>
            </a:r>
            <a:r>
              <a:rPr dirty="0" spc="30"/>
              <a:t> </a:t>
            </a:r>
            <a:r>
              <a:rPr dirty="0"/>
              <a:t>or</a:t>
            </a:r>
            <a:r>
              <a:rPr dirty="0" spc="85"/>
              <a:t> </a:t>
            </a:r>
            <a:r>
              <a:rPr dirty="0" spc="-10"/>
              <a:t>data.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30"/>
              </a:spcBef>
            </a:pPr>
            <a:r>
              <a:rPr dirty="0"/>
              <a:t>Learn</a:t>
            </a:r>
            <a:r>
              <a:rPr dirty="0" spc="-105"/>
              <a:t> </a:t>
            </a:r>
            <a:r>
              <a:rPr dirty="0"/>
              <a:t>to</a:t>
            </a:r>
            <a:r>
              <a:rPr dirty="0" spc="-110"/>
              <a:t> </a:t>
            </a:r>
            <a:r>
              <a:rPr dirty="0" spc="95"/>
              <a:t>spot</a:t>
            </a:r>
            <a:r>
              <a:rPr dirty="0" spc="-120"/>
              <a:t> </a:t>
            </a:r>
            <a:r>
              <a:rPr dirty="0" spc="55"/>
              <a:t>phishing</a:t>
            </a:r>
            <a:r>
              <a:rPr dirty="0" spc="-95"/>
              <a:t> </a:t>
            </a:r>
            <a:r>
              <a:rPr dirty="0" spc="50"/>
              <a:t>emails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30"/>
              </a:spcBef>
            </a:pPr>
            <a:r>
              <a:rPr dirty="0" spc="135"/>
              <a:t>How</a:t>
            </a:r>
            <a:r>
              <a:rPr dirty="0" spc="-170"/>
              <a:t> </a:t>
            </a:r>
            <a:r>
              <a:rPr dirty="0" spc="90"/>
              <a:t>do</a:t>
            </a:r>
            <a:r>
              <a:rPr dirty="0" spc="-145"/>
              <a:t> </a:t>
            </a:r>
            <a:r>
              <a:rPr dirty="0" spc="105"/>
              <a:t>we</a:t>
            </a:r>
            <a:r>
              <a:rPr dirty="0" spc="-140"/>
              <a:t> </a:t>
            </a:r>
            <a:r>
              <a:rPr dirty="0" spc="70"/>
              <a:t>stop</a:t>
            </a:r>
            <a:r>
              <a:rPr dirty="0" spc="-140"/>
              <a:t> </a:t>
            </a:r>
            <a:r>
              <a:rPr dirty="0" spc="75"/>
              <a:t>getting</a:t>
            </a:r>
            <a:r>
              <a:rPr dirty="0" spc="-145"/>
              <a:t> </a:t>
            </a:r>
            <a:r>
              <a:rPr dirty="0" spc="55"/>
              <a:t>phished?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0877" y="2160777"/>
            <a:ext cx="4151629" cy="18097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3810" rIns="0" bIns="0" rtlCol="0" vert="horz">
            <a:spAutoFit/>
          </a:bodyPr>
          <a:lstStyle/>
          <a:p>
            <a:pPr marL="635">
              <a:lnSpc>
                <a:spcPts val="1390"/>
              </a:lnSpc>
              <a:spcBef>
                <a:spcPts val="30"/>
              </a:spcBef>
            </a:pP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What</a:t>
            </a:r>
            <a:r>
              <a:rPr dirty="0" sz="1200" spc="-9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to</a:t>
            </a: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do</a:t>
            </a:r>
            <a:r>
              <a:rPr dirty="0" sz="12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when</a:t>
            </a:r>
            <a:r>
              <a:rPr dirty="0" sz="1200" spc="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you</a:t>
            </a:r>
            <a:r>
              <a:rPr dirty="0" sz="1200" spc="-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suspect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 phishing</a:t>
            </a:r>
            <a:r>
              <a:rPr dirty="0" sz="12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&amp;</a:t>
            </a:r>
            <a:r>
              <a:rPr dirty="0" sz="1200" spc="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how</a:t>
            </a:r>
            <a:r>
              <a:rPr dirty="0" sz="1200" spc="-8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to</a:t>
            </a:r>
            <a:r>
              <a:rPr dirty="0" sz="12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stay</a:t>
            </a:r>
            <a:r>
              <a:rPr dirty="0" sz="12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vigilant: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0877" y="2503677"/>
            <a:ext cx="4897755" cy="18097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4445" rIns="0" bIns="0" rtlCol="0" vert="horz">
            <a:spAutoFit/>
          </a:bodyPr>
          <a:lstStyle/>
          <a:p>
            <a:pPr marL="635">
              <a:lnSpc>
                <a:spcPts val="1385"/>
              </a:lnSpc>
              <a:spcBef>
                <a:spcPts val="35"/>
              </a:spcBef>
            </a:pP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1.</a:t>
            </a:r>
            <a:r>
              <a:rPr dirty="0" sz="12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585858"/>
                </a:solidFill>
                <a:latin typeface="Tahoma"/>
                <a:cs typeface="Tahoma"/>
              </a:rPr>
              <a:t>Do</a:t>
            </a:r>
            <a:r>
              <a:rPr dirty="0" sz="1200" spc="-6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not</a:t>
            </a: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click</a:t>
            </a:r>
            <a:r>
              <a:rPr dirty="0" sz="1200" spc="-6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links</a:t>
            </a:r>
            <a:r>
              <a:rPr dirty="0" sz="12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or</a:t>
            </a:r>
            <a:r>
              <a:rPr dirty="0" sz="12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open</a:t>
            </a:r>
            <a:r>
              <a:rPr dirty="0" sz="1200" spc="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85858"/>
                </a:solidFill>
                <a:latin typeface="Tahoma"/>
                <a:cs typeface="Tahoma"/>
              </a:rPr>
              <a:t>attachments,</a:t>
            </a:r>
            <a:r>
              <a:rPr dirty="0" sz="1200" spc="-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if</a:t>
            </a:r>
            <a:r>
              <a:rPr dirty="0" sz="1200" spc="-1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you</a:t>
            </a:r>
            <a:r>
              <a:rPr dirty="0" sz="12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suspect</a:t>
            </a: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585858"/>
                </a:solidFill>
                <a:latin typeface="Tahoma"/>
                <a:cs typeface="Tahoma"/>
              </a:rPr>
              <a:t>a</a:t>
            </a:r>
            <a:r>
              <a:rPr dirty="0" sz="12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phishing</a:t>
            </a:r>
            <a:r>
              <a:rPr dirty="0" sz="1200" spc="-8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email.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20877" y="2684652"/>
            <a:ext cx="2935605" cy="18097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5080" rIns="0" bIns="0" rtlCol="0" vert="horz">
            <a:spAutoFit/>
          </a:bodyPr>
          <a:lstStyle/>
          <a:p>
            <a:pPr marL="635">
              <a:lnSpc>
                <a:spcPts val="1385"/>
              </a:lnSpc>
              <a:spcBef>
                <a:spcPts val="40"/>
              </a:spcBef>
            </a:pP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2.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Hover</a:t>
            </a: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over</a:t>
            </a: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links</a:t>
            </a:r>
            <a:r>
              <a:rPr dirty="0" sz="1200" spc="-4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to</a:t>
            </a:r>
            <a:r>
              <a:rPr dirty="0" sz="1200" spc="-5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preview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the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 real</a:t>
            </a:r>
            <a:r>
              <a:rPr dirty="0" sz="1200" spc="-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85858"/>
                </a:solidFill>
                <a:latin typeface="Tahoma"/>
                <a:cs typeface="Tahoma"/>
              </a:rPr>
              <a:t>URL.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20877" y="2865627"/>
            <a:ext cx="6614159" cy="1714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350"/>
              </a:lnSpc>
            </a:pP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3.</a:t>
            </a:r>
            <a:r>
              <a:rPr dirty="0" sz="1200" spc="-4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Verify</a:t>
            </a:r>
            <a:r>
              <a:rPr dirty="0" sz="1200" spc="-7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sender</a:t>
            </a:r>
            <a:r>
              <a:rPr dirty="0" sz="12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by</a:t>
            </a:r>
            <a:r>
              <a:rPr dirty="0" sz="1200" spc="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checking</a:t>
            </a:r>
            <a:r>
              <a:rPr dirty="0" sz="1200" spc="-8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full</a:t>
            </a: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85858"/>
                </a:solidFill>
                <a:latin typeface="Tahoma"/>
                <a:cs typeface="Tahoma"/>
              </a:rPr>
              <a:t>email</a:t>
            </a:r>
            <a:r>
              <a:rPr dirty="0" sz="12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address</a:t>
            </a:r>
            <a:r>
              <a:rPr dirty="0" sz="1200" spc="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and</a:t>
            </a:r>
            <a:r>
              <a:rPr dirty="0" sz="12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known</a:t>
            </a:r>
            <a:r>
              <a:rPr dirty="0" sz="1200" spc="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directories</a:t>
            </a:r>
            <a:r>
              <a:rPr dirty="0" sz="1200" spc="-5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85858"/>
                </a:solidFill>
                <a:latin typeface="Tahoma"/>
                <a:cs typeface="Tahoma"/>
              </a:rPr>
              <a:t>(do</a:t>
            </a:r>
            <a:r>
              <a:rPr dirty="0" sz="12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not</a:t>
            </a: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rely</a:t>
            </a:r>
            <a:r>
              <a:rPr dirty="0" sz="1200" spc="-8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on</a:t>
            </a:r>
            <a:r>
              <a:rPr dirty="0" sz="12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display</a:t>
            </a:r>
            <a:r>
              <a:rPr dirty="0" sz="1200" spc="-7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name)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0877" y="3037077"/>
            <a:ext cx="7074534" cy="1714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350"/>
              </a:lnSpc>
            </a:pP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4.</a:t>
            </a:r>
            <a:r>
              <a:rPr dirty="0" sz="12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Report</a:t>
            </a:r>
            <a:r>
              <a:rPr dirty="0" sz="12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585858"/>
                </a:solidFill>
                <a:latin typeface="Tahoma"/>
                <a:cs typeface="Tahoma"/>
              </a:rPr>
              <a:t>a</a:t>
            </a:r>
            <a:r>
              <a:rPr dirty="0" sz="1200" spc="-7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suspicious</a:t>
            </a:r>
            <a:r>
              <a:rPr dirty="0" sz="1200" spc="-6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email</a:t>
            </a:r>
            <a:r>
              <a:rPr dirty="0" sz="12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to security/IT</a:t>
            </a:r>
            <a:r>
              <a:rPr dirty="0" sz="1200" spc="-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team</a:t>
            </a:r>
            <a:r>
              <a:rPr dirty="0" sz="1200" spc="-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–</a:t>
            </a:r>
            <a:r>
              <a:rPr dirty="0" sz="12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Forward</a:t>
            </a:r>
            <a:r>
              <a:rPr dirty="0" sz="1200" spc="-6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the</a:t>
            </a:r>
            <a:r>
              <a:rPr dirty="0" sz="1200" spc="-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85858"/>
                </a:solidFill>
                <a:latin typeface="Tahoma"/>
                <a:cs typeface="Tahoma"/>
              </a:rPr>
              <a:t>email</a:t>
            </a:r>
            <a:r>
              <a:rPr dirty="0" sz="12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585858"/>
                </a:solidFill>
                <a:latin typeface="Tahoma"/>
                <a:cs typeface="Tahoma"/>
              </a:rPr>
              <a:t>as</a:t>
            </a:r>
            <a:r>
              <a:rPr dirty="0" sz="12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an</a:t>
            </a:r>
            <a:r>
              <a:rPr dirty="0" sz="1200" spc="1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attachment</a:t>
            </a:r>
            <a:r>
              <a:rPr dirty="0" sz="1200" spc="-5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or</a:t>
            </a:r>
            <a:r>
              <a:rPr dirty="0" sz="1200" spc="-5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use</a:t>
            </a:r>
            <a:r>
              <a:rPr dirty="0" sz="1200" spc="-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the</a:t>
            </a: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"Report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20877" y="3208527"/>
            <a:ext cx="1152525" cy="1714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350"/>
              </a:lnSpc>
            </a:pP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Phishing</a:t>
            </a:r>
            <a:r>
              <a:rPr dirty="0" sz="1200" spc="-7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button".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20877" y="3379978"/>
            <a:ext cx="6189980" cy="18097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6350" rIns="0" bIns="0" rtlCol="0" vert="horz">
            <a:spAutoFit/>
          </a:bodyPr>
          <a:lstStyle/>
          <a:p>
            <a:pPr marL="635">
              <a:lnSpc>
                <a:spcPts val="1375"/>
              </a:lnSpc>
              <a:spcBef>
                <a:spcPts val="50"/>
              </a:spcBef>
            </a:pP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5.</a:t>
            </a:r>
            <a:r>
              <a:rPr dirty="0" sz="12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If</a:t>
            </a: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you</a:t>
            </a:r>
            <a:r>
              <a:rPr dirty="0" sz="12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clicked,</a:t>
            </a: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85858"/>
                </a:solidFill>
                <a:latin typeface="Tahoma"/>
                <a:cs typeface="Tahoma"/>
              </a:rPr>
              <a:t>change</a:t>
            </a:r>
            <a:r>
              <a:rPr dirty="0" sz="1200" spc="-1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passwords,</a:t>
            </a:r>
            <a:r>
              <a:rPr dirty="0" sz="1200" spc="-114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enable</a:t>
            </a:r>
            <a:r>
              <a:rPr dirty="0" sz="1200" spc="-10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105">
                <a:solidFill>
                  <a:srgbClr val="585858"/>
                </a:solidFill>
                <a:latin typeface="Tahoma"/>
                <a:cs typeface="Tahoma"/>
              </a:rPr>
              <a:t>MFA</a:t>
            </a:r>
            <a:r>
              <a:rPr dirty="0" sz="1200" spc="-5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and</a:t>
            </a:r>
            <a:r>
              <a:rPr dirty="0" sz="1200" spc="-6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contact</a:t>
            </a:r>
            <a:r>
              <a:rPr dirty="0" sz="1200" spc="-4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the</a:t>
            </a:r>
            <a:r>
              <a:rPr dirty="0" sz="1200" spc="-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70">
                <a:solidFill>
                  <a:srgbClr val="585858"/>
                </a:solidFill>
                <a:latin typeface="Tahoma"/>
                <a:cs typeface="Tahoma"/>
              </a:rPr>
              <a:t>It</a:t>
            </a:r>
            <a:r>
              <a:rPr dirty="0" sz="1200" spc="-4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department</a:t>
            </a:r>
            <a:r>
              <a:rPr dirty="0" sz="1200" spc="-1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immediately.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20877" y="3560953"/>
            <a:ext cx="3651885" cy="1714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350"/>
              </a:lnSpc>
            </a:pP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6.</a:t>
            </a:r>
            <a:r>
              <a:rPr dirty="0" sz="1200" spc="-3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Report</a:t>
            </a:r>
            <a:r>
              <a:rPr dirty="0" sz="1200" spc="-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everything!</a:t>
            </a:r>
            <a:r>
              <a:rPr dirty="0" sz="1200" spc="-2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-</a:t>
            </a:r>
            <a:r>
              <a:rPr dirty="0" sz="1200" spc="-2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585858"/>
                </a:solidFill>
                <a:latin typeface="Tahoma"/>
                <a:cs typeface="Tahoma"/>
              </a:rPr>
              <a:t>It</a:t>
            </a:r>
            <a:r>
              <a:rPr dirty="0" sz="1200" spc="-1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helps</a:t>
            </a:r>
            <a:r>
              <a:rPr dirty="0" sz="12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us</a:t>
            </a:r>
            <a:r>
              <a:rPr dirty="0" sz="1200" spc="-4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to</a:t>
            </a:r>
            <a:r>
              <a:rPr dirty="0" sz="1200" spc="-50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85858"/>
                </a:solidFill>
                <a:latin typeface="Tahoma"/>
                <a:cs typeface="Tahoma"/>
              </a:rPr>
              <a:t>protect</a:t>
            </a:r>
            <a:r>
              <a:rPr dirty="0" sz="1200" spc="-105">
                <a:solidFill>
                  <a:srgbClr val="58585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85858"/>
                </a:solidFill>
                <a:latin typeface="Tahoma"/>
                <a:cs typeface="Tahoma"/>
              </a:rPr>
              <a:t>everyone.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C367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2025-11-04T14:45:04Z</dcterms:created>
  <dcterms:modified xsi:type="dcterms:W3CDTF">2025-11-04T14:45:04Z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LastSaved">
    <vt:filetime>2025-11-04T00:00:00Z</vt:filetime>
  </property>
</Properties>
</file>